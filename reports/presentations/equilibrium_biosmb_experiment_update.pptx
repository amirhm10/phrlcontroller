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46304"/>
          </a:xfrm>
          <a:prstGeom prst="round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38912" y="2926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100" b="1">
                <a:solidFill>
                  <a:srgbClr val="7A263A"/>
                </a:solidFill>
                <a:latin typeface="Aptos"/>
              </a:rPr>
              <a:t>EQUILIBRIUM 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912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2800" b="1">
                <a:solidFill>
                  <a:srgbClr val="202A36"/>
                </a:solidFill>
                <a:latin typeface="Aptos"/>
              </a:rPr>
              <a:t>Equilibrium model is a calibrated chemistry core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1097280"/>
            <a:ext cx="4023360" cy="1234440"/>
          </a:xfrm>
          <a:prstGeom prst="roundRect">
            <a:avLst/>
          </a:prstGeom>
          <a:solidFill>
            <a:srgbClr val="DDF3F2"/>
          </a:solidFill>
          <a:ln w="10000">
            <a:solidFill>
              <a:srgbClr val="D7DEE8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097280"/>
            <a:ext cx="73152" cy="1234440"/>
          </a:xfrm>
          <a:prstGeom prst="rect">
            <a:avLst/>
          </a:prstGeom>
          <a:solidFill>
            <a:srgbClr val="0F9A9B"/>
          </a:solidFill>
          <a:ln w="10000">
            <a:solidFill>
              <a:srgbClr val="0F9A9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12648" y="1152144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Model role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Charge balance uses acid, acetate, and water flows.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Raw pH_eq is a physical coordinate, not a standalone simulator.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Current PH_2 map: 0.6567 + 0.7909 pH_eq.</a:t>
            </a:r>
          </a:p>
        </p:txBody>
      </p:sp>
      <p:sp>
        <p:nvSpPr>
          <p:cNvPr id="10" name="Shape 10"/>
          <p:cNvSpPr/>
          <p:nvPr/>
        </p:nvSpPr>
        <p:spPr>
          <a:xfrm>
            <a:off x="502920" y="2542032"/>
            <a:ext cx="1508760" cy="859536"/>
          </a:xfrm>
          <a:prstGeom prst="roundRect">
            <a:avLst/>
          </a:prstGeom>
          <a:solidFill>
            <a:srgbClr val="F8E4E1"/>
          </a:solidFill>
          <a:ln w="10000">
            <a:solidFill>
              <a:srgbClr val="D7DE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76072" y="2596896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wrap="square" lIns="28000" rIns="28000" tIns="28000" bIns="28000"/>
          <a:lstStyle/>
          <a:p>
            <a:pPr algn="l" spcAft="20000"/>
            <a:r>
              <a:rPr lang="en-US" sz="850" b="1">
                <a:solidFill>
                  <a:srgbClr val="64748B"/>
                </a:solidFill>
                <a:latin typeface="Aptos"/>
              </a:rPr>
              <a:t>Raw test RMSE</a:t>
            </a:r>
          </a:p>
          <a:p>
            <a:pPr algn="l" spcAft="20000"/>
            <a:r>
              <a:rPr lang="en-US" sz="2100" b="1">
                <a:solidFill>
                  <a:srgbClr val="B72418"/>
                </a:solidFill>
                <a:latin typeface="Aptos"/>
              </a:rPr>
              <a:t>0.441</a:t>
            </a:r>
          </a:p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units</a:t>
            </a:r>
          </a:p>
        </p:txBody>
      </p:sp>
      <p:sp>
        <p:nvSpPr>
          <p:cNvPr id="12" name="Shape 12"/>
          <p:cNvSpPr/>
          <p:nvPr/>
        </p:nvSpPr>
        <p:spPr>
          <a:xfrm>
            <a:off x="2148840" y="2542032"/>
            <a:ext cx="1508760" cy="859536"/>
          </a:xfrm>
          <a:prstGeom prst="roundRect">
            <a:avLst/>
          </a:prstGeom>
          <a:solidFill>
            <a:srgbClr val="E7F3EC"/>
          </a:solidFill>
          <a:ln w="10000">
            <a:solidFill>
              <a:srgbClr val="D7DE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21992" y="2596896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wrap="square" lIns="28000" rIns="28000" tIns="28000" bIns="28000"/>
          <a:lstStyle/>
          <a:p>
            <a:pPr algn="l" spcAft="20000"/>
            <a:r>
              <a:rPr lang="en-US" sz="850" b="1">
                <a:solidFill>
                  <a:srgbClr val="64748B"/>
                </a:solidFill>
                <a:latin typeface="Aptos"/>
              </a:rPr>
              <a:t>Affine test RMSE</a:t>
            </a:r>
          </a:p>
          <a:p>
            <a:pPr algn="l" spcAft="20000"/>
            <a:r>
              <a:rPr lang="en-US" sz="2100" b="1">
                <a:solidFill>
                  <a:srgbClr val="2C8A5A"/>
                </a:solidFill>
                <a:latin typeface="Aptos"/>
              </a:rPr>
              <a:t>0.0975</a:t>
            </a:r>
          </a:p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units</a:t>
            </a:r>
          </a:p>
        </p:txBody>
      </p:sp>
      <p:sp>
        <p:nvSpPr>
          <p:cNvPr id="14" name="Shape 14"/>
          <p:cNvSpPr/>
          <p:nvPr/>
        </p:nvSpPr>
        <p:spPr>
          <a:xfrm>
            <a:off x="3794760" y="2542032"/>
            <a:ext cx="1508760" cy="859536"/>
          </a:xfrm>
          <a:prstGeom prst="roundRect">
            <a:avLst/>
          </a:prstGeom>
          <a:solidFill>
            <a:srgbClr val="FFF1CC"/>
          </a:solidFill>
          <a:ln w="10000">
            <a:solidFill>
              <a:srgbClr val="D7DE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867912" y="2596896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wrap="square" lIns="28000" rIns="28000" tIns="28000" bIns="28000"/>
          <a:lstStyle/>
          <a:p>
            <a:pPr algn="l" spcAft="20000"/>
            <a:r>
              <a:rPr lang="en-US" sz="850" b="1">
                <a:solidFill>
                  <a:srgbClr val="64748B"/>
                </a:solidFill>
                <a:latin typeface="Aptos"/>
              </a:rPr>
              <a:t>Affine max abs</a:t>
            </a:r>
          </a:p>
          <a:p>
            <a:pPr algn="l" spcAft="20000"/>
            <a:r>
              <a:rPr lang="en-US" sz="2100" b="1">
                <a:solidFill>
                  <a:srgbClr val="D79B20"/>
                </a:solidFill>
                <a:latin typeface="Aptos"/>
              </a:rPr>
              <a:t>0.247</a:t>
            </a:r>
          </a:p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test split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" y="3703320"/>
            <a:ext cx="4526280" cy="129844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17" name="Shape 17"/>
          <p:cNvSpPr/>
          <p:nvPr/>
        </p:nvSpPr>
        <p:spPr>
          <a:xfrm>
            <a:off x="502920" y="3703320"/>
            <a:ext cx="73152" cy="1298448"/>
          </a:xfrm>
          <a:prstGeom prst="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12648" y="3758184"/>
            <a:ext cx="4343400" cy="120700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Interpretation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Measured PH_2 is lower and compressed relative to ideal equilibrium.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The calibration is useful evidence, but dynamics are still missing.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Next model should identify delay, mixing, and sensor response.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826" y="1124712"/>
            <a:ext cx="5388428" cy="452628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5349240" y="5650992"/>
            <a:ext cx="5989320" cy="38404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900">
                <a:solidFill>
                  <a:srgbClr val="64748B"/>
                </a:solidFill>
                <a:latin typeface="Aptos"/>
              </a:rPr>
              <a:t>Evidence: measured PH_2 versus raw equilibrium pH, train/test split.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8912" y="6519672"/>
            <a:ext cx="9692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modeling update | equilibrium chemistry, BioSMB library, and open-loop experiments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73968" y="65196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r" spcAft="20000"/>
            <a:r>
              <a:rPr lang="en-US" sz="750">
                <a:solidFill>
                  <a:srgbClr val="64748B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46304"/>
          </a:xfrm>
          <a:prstGeom prst="round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38912" y="2926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100" b="1">
                <a:solidFill>
                  <a:srgbClr val="7A263A"/>
                </a:solidFill>
                <a:latin typeface="Aptos"/>
              </a:rPr>
              <a:t>BIOSMB LIBRARY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912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2800" b="1">
                <a:solidFill>
                  <a:srgbClr val="202A36"/>
                </a:solidFill>
                <a:latin typeface="Aptos"/>
              </a:rPr>
              <a:t>BioSMB gives the hardware interface, not the plant model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8188"/>
            <a:ext cx="7726680" cy="4153648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8394192" y="1078992"/>
            <a:ext cx="3127248" cy="1298448"/>
          </a:xfrm>
          <a:prstGeom prst="roundRect">
            <a:avLst/>
          </a:prstGeom>
          <a:solidFill>
            <a:srgbClr val="E6EEF8"/>
          </a:solidFill>
          <a:ln w="10000">
            <a:solidFill>
              <a:srgbClr val="D7DEE8"/>
            </a:solidFill>
          </a:ln>
        </p:spPr>
      </p:sp>
      <p:sp>
        <p:nvSpPr>
          <p:cNvPr id="9" name="Shape 9"/>
          <p:cNvSpPr/>
          <p:nvPr/>
        </p:nvSpPr>
        <p:spPr>
          <a:xfrm>
            <a:off x="8394192" y="1078992"/>
            <a:ext cx="73152" cy="1298448"/>
          </a:xfrm>
          <a:prstGeom prst="rect">
            <a:avLst/>
          </a:prstGeom>
          <a:solidFill>
            <a:srgbClr val="357ABD"/>
          </a:solidFill>
          <a:ln w="10000">
            <a:solidFill>
              <a:srgbClr val="357AB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503920" y="1133856"/>
            <a:ext cx="2944368" cy="120700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Confirmed pH mapping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Pump 2: acetic acid.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Pump 3: sodium acetate.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Pump 4: Arium water.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Reliable output: PH_2 with get_ph(2).</a:t>
            </a:r>
          </a:p>
        </p:txBody>
      </p:sp>
      <p:sp>
        <p:nvSpPr>
          <p:cNvPr id="11" name="Shape 11"/>
          <p:cNvSpPr/>
          <p:nvPr/>
        </p:nvSpPr>
        <p:spPr>
          <a:xfrm>
            <a:off x="8394192" y="2606040"/>
            <a:ext cx="3127248" cy="1298448"/>
          </a:xfrm>
          <a:prstGeom prst="roundRect">
            <a:avLst/>
          </a:prstGeom>
          <a:solidFill>
            <a:srgbClr val="DDF3F2"/>
          </a:solidFill>
          <a:ln w="10000">
            <a:solidFill>
              <a:srgbClr val="D7DEE8"/>
            </a:solidFill>
          </a:ln>
        </p:spPr>
      </p:sp>
      <p:sp>
        <p:nvSpPr>
          <p:cNvPr id="12" name="Shape 12"/>
          <p:cNvSpPr/>
          <p:nvPr/>
        </p:nvSpPr>
        <p:spPr>
          <a:xfrm>
            <a:off x="8394192" y="2606040"/>
            <a:ext cx="73152" cy="1298448"/>
          </a:xfrm>
          <a:prstGeom prst="rect">
            <a:avLst/>
          </a:prstGeom>
          <a:solidFill>
            <a:srgbClr val="0F9A9B"/>
          </a:solidFill>
          <a:ln w="10000">
            <a:solidFill>
              <a:srgbClr val="0F9A9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503920" y="2660904"/>
            <a:ext cx="2944368" cy="120700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Library API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One-indexed pumps and sensors.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Valve labels are column plus row, e.g. P2/P3/P4.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OPC-UA wrapper reads and writes hardware nodes.</a:t>
            </a:r>
          </a:p>
        </p:txBody>
      </p:sp>
      <p:sp>
        <p:nvSpPr>
          <p:cNvPr id="14" name="Shape 14"/>
          <p:cNvSpPr/>
          <p:nvPr/>
        </p:nvSpPr>
        <p:spPr>
          <a:xfrm>
            <a:off x="8394192" y="4133088"/>
            <a:ext cx="3127248" cy="1133856"/>
          </a:xfrm>
          <a:prstGeom prst="roundRect">
            <a:avLst/>
          </a:prstGeom>
          <a:solidFill>
            <a:srgbClr val="F8E4E1"/>
          </a:solidFill>
          <a:ln w="10000">
            <a:solidFill>
              <a:srgbClr val="D7DE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394192" y="4133088"/>
            <a:ext cx="73152" cy="1133856"/>
          </a:xfrm>
          <a:prstGeom prst="rect">
            <a:avLst/>
          </a:prstGeom>
          <a:solidFill>
            <a:srgbClr val="B72418"/>
          </a:solidFill>
          <a:ln w="10000">
            <a:solidFill>
              <a:srgbClr val="B7241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503920" y="4187952"/>
            <a:ext cx="2944368" cy="1042416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Safety gap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The library does not enforce flow bounds, finite schedules, or cleanup.</a:t>
            </a:r>
          </a:p>
          <a:p>
            <a:pPr marL="285750" indent="-171450" algn="l" spcAft="20000">
              <a:buChar char="•"/>
            </a:pPr>
            <a:r>
              <a:rPr lang="en-US" sz="940">
                <a:solidFill>
                  <a:srgbClr val="202A36"/>
                </a:solidFill>
                <a:latin typeface="Aptos"/>
              </a:rPr>
              <a:t>Experiment runners must add those controls.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2920" y="599846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920">
                <a:solidFill>
                  <a:srgbClr val="64748B"/>
                </a:solidFill>
                <a:latin typeface="Aptos"/>
              </a:rPr>
              <a:t>P2/P3/P4 are valve coordinates on the pH inlet rows, not pump numbers.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8912" y="6519672"/>
            <a:ext cx="9692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modeling update | equilibrium chemistry, BioSMB library, and open-loop experiments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73968" y="65196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r" spcAft="20000"/>
            <a:r>
              <a:rPr lang="en-US" sz="750">
                <a:solidFill>
                  <a:srgbClr val="64748B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46304"/>
          </a:xfrm>
          <a:prstGeom prst="round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38912" y="2926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100" b="1">
                <a:solidFill>
                  <a:srgbClr val="7A263A"/>
                </a:solidFill>
                <a:latin typeface="Aptos"/>
              </a:rPr>
              <a:t>BIOSMB LIBRARY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912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2800" b="1">
                <a:solidFill>
                  <a:srgbClr val="202A36"/>
                </a:solidFill>
                <a:latin typeface="Aptos"/>
              </a:rPr>
              <a:t>Read-only smoke test proved the library path before writes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1325880"/>
            <a:ext cx="2148840" cy="658368"/>
          </a:xfrm>
          <a:prstGeom prst="roundRect">
            <a:avLst/>
          </a:prstGeom>
          <a:solidFill>
            <a:srgbClr val="E6EEF8"/>
          </a:solidFill>
          <a:ln w="10000">
            <a:solidFill>
              <a:srgbClr val="357ABD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67512" y="1389888"/>
            <a:ext cx="1993392" cy="493776"/>
          </a:xfrm>
          <a:prstGeom prst="rect">
            <a:avLst/>
          </a:prstGeom>
          <a:noFill/>
          <a:ln>
            <a:noFill/>
          </a:ln>
        </p:spPr>
        <p:txBody>
          <a:bodyPr wrap="square" lIns="24000" rIns="24000" tIns="24000" bIns="24000"/>
          <a:lstStyle/>
          <a:p>
            <a:pPr algn="c" spcAft="20000"/>
            <a:r>
              <a:rPr lang="en-US" sz="1050" b="1">
                <a:solidFill>
                  <a:srgbClr val="202A36"/>
                </a:solidFill>
                <a:latin typeface="Aptos"/>
              </a:rPr>
              <a:t>Local OPC emulator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770632" y="1655064"/>
            <a:ext cx="457200" cy="0"/>
          </a:xfrm>
          <a:prstGeom prst="line">
            <a:avLst/>
          </a:prstGeom>
          <a:ln w="180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3337560" y="1325880"/>
            <a:ext cx="2148840" cy="658368"/>
          </a:xfrm>
          <a:prstGeom prst="roundRect">
            <a:avLst/>
          </a:prstGeom>
          <a:solidFill>
            <a:srgbClr val="FFF1CC"/>
          </a:solidFill>
          <a:ln w="10000">
            <a:solidFill>
              <a:srgbClr val="D79B2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10712" y="1389888"/>
            <a:ext cx="1993392" cy="493776"/>
          </a:xfrm>
          <a:prstGeom prst="rect">
            <a:avLst/>
          </a:prstGeom>
          <a:noFill/>
          <a:ln>
            <a:noFill/>
          </a:ln>
        </p:spPr>
        <p:txBody>
          <a:bodyPr wrap="square" lIns="24000" rIns="24000" tIns="24000" bIns="24000"/>
          <a:lstStyle/>
          <a:p>
            <a:pPr algn="c" spcAft="20000"/>
            <a:r>
              <a:rPr lang="en-US" sz="1050" b="1">
                <a:solidFill>
                  <a:srgbClr val="202A36"/>
                </a:solidFill>
                <a:latin typeface="Aptos"/>
              </a:rPr>
              <a:t>Temporary settings.json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5513832" y="1655064"/>
            <a:ext cx="457200" cy="0"/>
          </a:xfrm>
          <a:prstGeom prst="line">
            <a:avLst/>
          </a:prstGeom>
          <a:ln w="180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6080760" y="1325880"/>
            <a:ext cx="2148840" cy="658368"/>
          </a:xfrm>
          <a:prstGeom prst="roundRect">
            <a:avLst/>
          </a:prstGeom>
          <a:solidFill>
            <a:srgbClr val="DDF3F2"/>
          </a:solidFill>
          <a:ln w="10000">
            <a:solidFill>
              <a:srgbClr val="0F9A9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153912" y="1389888"/>
            <a:ext cx="1993392" cy="493776"/>
          </a:xfrm>
          <a:prstGeom prst="rect">
            <a:avLst/>
          </a:prstGeom>
          <a:noFill/>
          <a:ln>
            <a:noFill/>
          </a:ln>
        </p:spPr>
        <p:txBody>
          <a:bodyPr wrap="square" lIns="24000" rIns="24000" tIns="24000" bIns="24000"/>
          <a:lstStyle/>
          <a:p>
            <a:pPr algn="c" spcAft="20000"/>
            <a:r>
              <a:rPr lang="en-US" sz="1050" b="1">
                <a:solidFill>
                  <a:srgbClr val="202A36"/>
                </a:solidFill>
                <a:latin typeface="Aptos"/>
              </a:rPr>
              <a:t>BioSMBManager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8257032" y="1655064"/>
            <a:ext cx="457200" cy="0"/>
          </a:xfrm>
          <a:prstGeom prst="line">
            <a:avLst/>
          </a:prstGeom>
          <a:ln w="18000">
            <a:solidFill>
              <a:srgbClr val="64748B"/>
            </a:solidFill>
            <a:tailEnd type="none"/>
            <a:headEnd type="triangle"/>
          </a:ln>
        </p:spPr>
      </p:cxnSp>
      <p:sp>
        <p:nvSpPr>
          <p:cNvPr id="16" name="Shape 16"/>
          <p:cNvSpPr/>
          <p:nvPr/>
        </p:nvSpPr>
        <p:spPr>
          <a:xfrm>
            <a:off x="8823960" y="1325880"/>
            <a:ext cx="2148840" cy="658368"/>
          </a:xfrm>
          <a:prstGeom prst="roundRect">
            <a:avLst/>
          </a:prstGeom>
          <a:solidFill>
            <a:srgbClr val="E7F3EC"/>
          </a:solidFill>
          <a:ln w="10000">
            <a:solidFill>
              <a:srgbClr val="2C8A5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897112" y="1389888"/>
            <a:ext cx="1993392" cy="493776"/>
          </a:xfrm>
          <a:prstGeom prst="rect">
            <a:avLst/>
          </a:prstGeom>
          <a:noFill/>
          <a:ln>
            <a:noFill/>
          </a:ln>
        </p:spPr>
        <p:txBody>
          <a:bodyPr wrap="square" lIns="24000" rIns="24000" tIns="24000" bIns="24000"/>
          <a:lstStyle/>
          <a:p>
            <a:pPr algn="c" spcAft="20000"/>
            <a:r>
              <a:rPr lang="en-US" sz="1050" b="1">
                <a:solidFill>
                  <a:srgbClr val="202A36"/>
                </a:solidFill>
                <a:latin typeface="Aptos"/>
              </a:rPr>
              <a:t>Read flows, valves, PH_2, sensors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2514600"/>
            <a:ext cx="5257800" cy="190195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85800" y="2514600"/>
            <a:ext cx="73152" cy="1901952"/>
          </a:xfrm>
          <a:prstGeom prst="rect">
            <a:avLst/>
          </a:prstGeom>
          <a:solidFill>
            <a:srgbClr val="0F9A9B"/>
          </a:solidFill>
          <a:ln w="10000">
            <a:solidFill>
              <a:srgbClr val="0F9A9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95528" y="2569464"/>
            <a:ext cx="5074920" cy="181051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What the read-only script checks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Imports the real biosmb_interface and emulator packages.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Connects to opc.tcp://127.0.0.1:4865/BioSMB/.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Resolves P2, P3, P4 and pump readbacks for pumps 2-4.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Reads current pH with biosmb.get_ph(2).</a:t>
            </a:r>
          </a:p>
        </p:txBody>
      </p:sp>
      <p:sp>
        <p:nvSpPr>
          <p:cNvPr id="21" name="Shape 21"/>
          <p:cNvSpPr/>
          <p:nvPr/>
        </p:nvSpPr>
        <p:spPr>
          <a:xfrm>
            <a:off x="6355080" y="2514600"/>
            <a:ext cx="4983480" cy="190195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355080" y="2514600"/>
            <a:ext cx="73152" cy="1901952"/>
          </a:xfrm>
          <a:prstGeom prst="rect">
            <a:avLst/>
          </a:prstGeom>
          <a:solidFill>
            <a:srgbClr val="B72418"/>
          </a:solidFill>
          <a:ln w="10000">
            <a:solidFill>
              <a:srgbClr val="B7241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64808" y="2569464"/>
            <a:ext cx="4800600" cy="181051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What it deliberately avoids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No enable_pump calls.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No set_flow calls.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No open_valve calls.</a:t>
            </a:r>
          </a:p>
          <a:p>
            <a:pPr marL="285750" indent="-171450" algn="l" spcAft="20000">
              <a:buChar char="•"/>
            </a:pPr>
            <a:r>
              <a:rPr lang="en-US" sz="1020">
                <a:solidFill>
                  <a:srgbClr val="202A36"/>
                </a:solidFill>
                <a:latin typeface="Aptos"/>
              </a:rPr>
              <a:t>No claim that the physical outlet path is fully verified.</a:t>
            </a:r>
          </a:p>
        </p:txBody>
      </p:sp>
      <p:sp>
        <p:nvSpPr>
          <p:cNvPr id="24" name="Shape 24"/>
          <p:cNvSpPr/>
          <p:nvPr/>
        </p:nvSpPr>
        <p:spPr>
          <a:xfrm>
            <a:off x="685800" y="4828032"/>
            <a:ext cx="10652760" cy="713232"/>
          </a:xfrm>
          <a:prstGeom prst="roundRect">
            <a:avLst/>
          </a:prstGeom>
          <a:solidFill>
            <a:srgbClr val="FFF1CC"/>
          </a:solidFill>
          <a:ln w="10000">
            <a:solidFill>
              <a:srgbClr val="D7DEE8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85800" y="4828032"/>
            <a:ext cx="73152" cy="713232"/>
          </a:xfrm>
          <a:prstGeom prst="rect">
            <a:avLst/>
          </a:prstGeom>
          <a:solidFill>
            <a:srgbClr val="D79B20"/>
          </a:solidFill>
          <a:ln w="10000">
            <a:solidFill>
              <a:srgbClr val="D79B2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95528" y="4882896"/>
            <a:ext cx="10469880" cy="62179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Next safe use</a:t>
            </a:r>
          </a:p>
          <a:p>
            <a:pPr marL="285750" indent="-171450" algn="l" spcAft="20000">
              <a:buChar char="•"/>
            </a:pPr>
            <a:r>
              <a:rPr lang="en-US" sz="1080">
                <a:solidFill>
                  <a:srgbClr val="202A36"/>
                </a:solidFill>
                <a:latin typeface="Aptos"/>
              </a:rPr>
              <a:t>Move from emulator read-only validation to a supervised valve-only or very low-flow hardware check with try/finally cleanup.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8912" y="6519672"/>
            <a:ext cx="9692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modeling update | equilibrium chemistry, BioSMB library, and open-loop experiments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73968" y="65196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r" spcAft="20000"/>
            <a:r>
              <a:rPr lang="en-US" sz="750">
                <a:solidFill>
                  <a:srgbClr val="64748B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46304"/>
          </a:xfrm>
          <a:prstGeom prst="round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38912" y="2926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100" b="1">
                <a:solidFill>
                  <a:srgbClr val="7A263A"/>
                </a:solidFill>
                <a:latin typeface="Aptos"/>
              </a:rPr>
              <a:t>EXPERIMENTS TO RUN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912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2800" b="1">
                <a:solidFill>
                  <a:srgbClr val="202A36"/>
                </a:solidFill>
                <a:latin typeface="Aptos"/>
              </a:rPr>
              <a:t>Experiment 1 should step pH chemistry at fixed total flow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1051560"/>
            <a:ext cx="4160520" cy="1371600"/>
          </a:xfrm>
          <a:prstGeom prst="roundRect">
            <a:avLst/>
          </a:prstGeom>
          <a:solidFill>
            <a:srgbClr val="DDF3F2"/>
          </a:solidFill>
          <a:ln w="10000">
            <a:solidFill>
              <a:srgbClr val="D7DEE8"/>
            </a:solidFill>
          </a:ln>
        </p:spPr>
      </p:sp>
      <p:sp>
        <p:nvSpPr>
          <p:cNvPr id="8" name="Shape 8"/>
          <p:cNvSpPr/>
          <p:nvPr/>
        </p:nvSpPr>
        <p:spPr>
          <a:xfrm>
            <a:off x="594360" y="1051560"/>
            <a:ext cx="73152" cy="1371600"/>
          </a:xfrm>
          <a:prstGeom prst="rect">
            <a:avLst/>
          </a:prstGeom>
          <a:solidFill>
            <a:srgbClr val="0F9A9B"/>
          </a:solidFill>
          <a:ln w="10000">
            <a:solidFill>
              <a:srgbClr val="0F9A9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04088" y="1106424"/>
            <a:ext cx="39776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Purpose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Excite pH_eq through the acid/acetate ratio.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Hold total flow near 15 mL/min to reduce residence-time confounding.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Use both upward and downward pH-coordinate changes.</a:t>
            </a:r>
          </a:p>
        </p:txBody>
      </p:sp>
      <p:sp>
        <p:nvSpPr>
          <p:cNvPr id="10" name="Shape 10"/>
          <p:cNvSpPr/>
          <p:nvPr/>
        </p:nvSpPr>
        <p:spPr>
          <a:xfrm>
            <a:off x="594360" y="2651760"/>
            <a:ext cx="4160520" cy="126187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94360" y="2651760"/>
            <a:ext cx="73152" cy="1261872"/>
          </a:xfrm>
          <a:prstGeom prst="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04088" y="2706624"/>
            <a:ext cx="3977640" cy="11704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Design equations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F_H + F_A = 10 mL/min, F_W = 5 mL/min.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r = 10^(design_pH_eq - pKa).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F_H = 10/(1+r), F_A = 10r/(1+r).</a:t>
            </a:r>
          </a:p>
        </p:txBody>
      </p:sp>
      <p:sp>
        <p:nvSpPr>
          <p:cNvPr id="13" name="Shape 13"/>
          <p:cNvSpPr/>
          <p:nvPr/>
        </p:nvSpPr>
        <p:spPr>
          <a:xfrm>
            <a:off x="5257800" y="1143000"/>
            <a:ext cx="1508760" cy="420624"/>
          </a:xfrm>
          <a:prstGeom prst="rect">
            <a:avLst/>
          </a:prstGeom>
          <a:solidFill>
            <a:srgbClr val="7A263A"/>
          </a:solidFill>
          <a:ln w="10000">
            <a:solidFill>
              <a:srgbClr val="D7DEE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285232" y="1161288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l" spcAft="20000"/>
            <a:r>
              <a:rPr lang="en-US" sz="920" b="1">
                <a:solidFill>
                  <a:srgbClr val="FFFFFF"/>
                </a:solidFill>
                <a:latin typeface="Aptos"/>
              </a:rPr>
              <a:t>design pH_eq</a:t>
            </a:r>
          </a:p>
        </p:txBody>
      </p:sp>
      <p:sp>
        <p:nvSpPr>
          <p:cNvPr id="15" name="Shape 15"/>
          <p:cNvSpPr/>
          <p:nvPr/>
        </p:nvSpPr>
        <p:spPr>
          <a:xfrm>
            <a:off x="6766560" y="1143000"/>
            <a:ext cx="1051560" cy="420624"/>
          </a:xfrm>
          <a:prstGeom prst="rect">
            <a:avLst/>
          </a:prstGeom>
          <a:solidFill>
            <a:srgbClr val="7A263A"/>
          </a:solidFill>
          <a:ln w="10000">
            <a:solidFill>
              <a:srgbClr val="D7DE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93992" y="1161288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 b="1">
                <a:solidFill>
                  <a:srgbClr val="FFFFFF"/>
                </a:solidFill>
                <a:latin typeface="Aptos"/>
              </a:rPr>
              <a:t>F_H</a:t>
            </a:r>
          </a:p>
        </p:txBody>
      </p:sp>
      <p:sp>
        <p:nvSpPr>
          <p:cNvPr id="17" name="Shape 17"/>
          <p:cNvSpPr/>
          <p:nvPr/>
        </p:nvSpPr>
        <p:spPr>
          <a:xfrm>
            <a:off x="7818120" y="1143000"/>
            <a:ext cx="1051560" cy="420624"/>
          </a:xfrm>
          <a:prstGeom prst="rect">
            <a:avLst/>
          </a:prstGeom>
          <a:solidFill>
            <a:srgbClr val="7A263A"/>
          </a:solidFill>
          <a:ln w="10000">
            <a:solidFill>
              <a:srgbClr val="D7DEE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845552" y="1161288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 b="1">
                <a:solidFill>
                  <a:srgbClr val="FFFFFF"/>
                </a:solidFill>
                <a:latin typeface="Aptos"/>
              </a:rPr>
              <a:t>F_A</a:t>
            </a:r>
          </a:p>
        </p:txBody>
      </p:sp>
      <p:sp>
        <p:nvSpPr>
          <p:cNvPr id="19" name="Shape 19"/>
          <p:cNvSpPr/>
          <p:nvPr/>
        </p:nvSpPr>
        <p:spPr>
          <a:xfrm>
            <a:off x="8869680" y="1143000"/>
            <a:ext cx="1051560" cy="420624"/>
          </a:xfrm>
          <a:prstGeom prst="rect">
            <a:avLst/>
          </a:prstGeom>
          <a:solidFill>
            <a:srgbClr val="7A263A"/>
          </a:solidFill>
          <a:ln w="10000">
            <a:solidFill>
              <a:srgbClr val="D7DE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897112" y="1161288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 b="1">
                <a:solidFill>
                  <a:srgbClr val="FFFFFF"/>
                </a:solidFill>
                <a:latin typeface="Aptos"/>
              </a:rPr>
              <a:t>F_W</a:t>
            </a:r>
          </a:p>
        </p:txBody>
      </p:sp>
      <p:sp>
        <p:nvSpPr>
          <p:cNvPr id="21" name="Shape 21"/>
          <p:cNvSpPr/>
          <p:nvPr/>
        </p:nvSpPr>
        <p:spPr>
          <a:xfrm>
            <a:off x="5257800" y="1563624"/>
            <a:ext cx="15087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285232" y="1581912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l" spcAft="20000"/>
            <a:r>
              <a:rPr lang="en-US" sz="920">
                <a:solidFill>
                  <a:srgbClr val="202A36"/>
                </a:solidFill>
                <a:latin typeface="Aptos"/>
              </a:rPr>
              <a:t>3.85</a:t>
            </a:r>
          </a:p>
        </p:txBody>
      </p:sp>
      <p:sp>
        <p:nvSpPr>
          <p:cNvPr id="23" name="Shape 23"/>
          <p:cNvSpPr/>
          <p:nvPr/>
        </p:nvSpPr>
        <p:spPr>
          <a:xfrm>
            <a:off x="6766560" y="1563624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793992" y="1581912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8.90</a:t>
            </a:r>
          </a:p>
        </p:txBody>
      </p:sp>
      <p:sp>
        <p:nvSpPr>
          <p:cNvPr id="25" name="Shape 25"/>
          <p:cNvSpPr/>
          <p:nvPr/>
        </p:nvSpPr>
        <p:spPr>
          <a:xfrm>
            <a:off x="7818120" y="1563624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845552" y="1581912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1.10</a:t>
            </a:r>
          </a:p>
        </p:txBody>
      </p:sp>
      <p:sp>
        <p:nvSpPr>
          <p:cNvPr id="27" name="Shape 27"/>
          <p:cNvSpPr/>
          <p:nvPr/>
        </p:nvSpPr>
        <p:spPr>
          <a:xfrm>
            <a:off x="8869680" y="1563624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897112" y="1581912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29" name="Shape 29"/>
          <p:cNvSpPr/>
          <p:nvPr/>
        </p:nvSpPr>
        <p:spPr>
          <a:xfrm>
            <a:off x="5257800" y="1984248"/>
            <a:ext cx="15087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285232" y="2002536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l" spcAft="20000"/>
            <a:r>
              <a:rPr lang="en-US" sz="920">
                <a:solidFill>
                  <a:srgbClr val="202A36"/>
                </a:solidFill>
                <a:latin typeface="Aptos"/>
              </a:rPr>
              <a:t>4.15</a:t>
            </a:r>
          </a:p>
        </p:txBody>
      </p:sp>
      <p:sp>
        <p:nvSpPr>
          <p:cNvPr id="31" name="Shape 31"/>
          <p:cNvSpPr/>
          <p:nvPr/>
        </p:nvSpPr>
        <p:spPr>
          <a:xfrm>
            <a:off x="6766560" y="1984248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793992" y="2002536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8.03</a:t>
            </a:r>
          </a:p>
        </p:txBody>
      </p:sp>
      <p:sp>
        <p:nvSpPr>
          <p:cNvPr id="33" name="Shape 33"/>
          <p:cNvSpPr/>
          <p:nvPr/>
        </p:nvSpPr>
        <p:spPr>
          <a:xfrm>
            <a:off x="7818120" y="1984248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845552" y="2002536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1.97</a:t>
            </a:r>
          </a:p>
        </p:txBody>
      </p:sp>
      <p:sp>
        <p:nvSpPr>
          <p:cNvPr id="35" name="Shape 35"/>
          <p:cNvSpPr/>
          <p:nvPr/>
        </p:nvSpPr>
        <p:spPr>
          <a:xfrm>
            <a:off x="8869680" y="1984248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897112" y="2002536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37" name="Shape 37"/>
          <p:cNvSpPr/>
          <p:nvPr/>
        </p:nvSpPr>
        <p:spPr>
          <a:xfrm>
            <a:off x="5257800" y="2404872"/>
            <a:ext cx="15087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285232" y="2423160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l" spcAft="20000"/>
            <a:r>
              <a:rPr lang="en-US" sz="920">
                <a:solidFill>
                  <a:srgbClr val="202A36"/>
                </a:solidFill>
                <a:latin typeface="Aptos"/>
              </a:rPr>
              <a:t>4.76</a:t>
            </a:r>
          </a:p>
        </p:txBody>
      </p:sp>
      <p:sp>
        <p:nvSpPr>
          <p:cNvPr id="39" name="Shape 39"/>
          <p:cNvSpPr/>
          <p:nvPr/>
        </p:nvSpPr>
        <p:spPr>
          <a:xfrm>
            <a:off x="6766560" y="2404872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793992" y="2423160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41" name="Shape 41"/>
          <p:cNvSpPr/>
          <p:nvPr/>
        </p:nvSpPr>
        <p:spPr>
          <a:xfrm>
            <a:off x="7818120" y="2404872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845552" y="2423160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43" name="Shape 43"/>
          <p:cNvSpPr/>
          <p:nvPr/>
        </p:nvSpPr>
        <p:spPr>
          <a:xfrm>
            <a:off x="8869680" y="2404872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897112" y="2423160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45" name="Shape 45"/>
          <p:cNvSpPr/>
          <p:nvPr/>
        </p:nvSpPr>
        <p:spPr>
          <a:xfrm>
            <a:off x="5257800" y="2825496"/>
            <a:ext cx="15087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285232" y="2843784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l" spcAft="20000"/>
            <a:r>
              <a:rPr lang="en-US" sz="920">
                <a:solidFill>
                  <a:srgbClr val="202A36"/>
                </a:solidFill>
                <a:latin typeface="Aptos"/>
              </a:rPr>
              <a:t>5.37</a:t>
            </a:r>
          </a:p>
        </p:txBody>
      </p:sp>
      <p:sp>
        <p:nvSpPr>
          <p:cNvPr id="47" name="Shape 47"/>
          <p:cNvSpPr/>
          <p:nvPr/>
        </p:nvSpPr>
        <p:spPr>
          <a:xfrm>
            <a:off x="6766560" y="2825496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793992" y="2843784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1.97</a:t>
            </a:r>
          </a:p>
        </p:txBody>
      </p:sp>
      <p:sp>
        <p:nvSpPr>
          <p:cNvPr id="49" name="Shape 49"/>
          <p:cNvSpPr/>
          <p:nvPr/>
        </p:nvSpPr>
        <p:spPr>
          <a:xfrm>
            <a:off x="7818120" y="2825496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845552" y="2843784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8.03</a:t>
            </a:r>
          </a:p>
        </p:txBody>
      </p:sp>
      <p:sp>
        <p:nvSpPr>
          <p:cNvPr id="51" name="Shape 51"/>
          <p:cNvSpPr/>
          <p:nvPr/>
        </p:nvSpPr>
        <p:spPr>
          <a:xfrm>
            <a:off x="8869680" y="2825496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897112" y="2843784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53" name="Shape 53"/>
          <p:cNvSpPr/>
          <p:nvPr/>
        </p:nvSpPr>
        <p:spPr>
          <a:xfrm>
            <a:off x="5257800" y="3246120"/>
            <a:ext cx="15087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285232" y="3264408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l" spcAft="20000"/>
            <a:r>
              <a:rPr lang="en-US" sz="920">
                <a:solidFill>
                  <a:srgbClr val="202A36"/>
                </a:solidFill>
                <a:latin typeface="Aptos"/>
              </a:rPr>
              <a:t>5.67</a:t>
            </a:r>
          </a:p>
        </p:txBody>
      </p:sp>
      <p:sp>
        <p:nvSpPr>
          <p:cNvPr id="55" name="Shape 55"/>
          <p:cNvSpPr/>
          <p:nvPr/>
        </p:nvSpPr>
        <p:spPr>
          <a:xfrm>
            <a:off x="6766560" y="3246120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793992" y="3264408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1.10</a:t>
            </a:r>
          </a:p>
        </p:txBody>
      </p:sp>
      <p:sp>
        <p:nvSpPr>
          <p:cNvPr id="57" name="Shape 57"/>
          <p:cNvSpPr/>
          <p:nvPr/>
        </p:nvSpPr>
        <p:spPr>
          <a:xfrm>
            <a:off x="7818120" y="3246120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7845552" y="3264408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8.90</a:t>
            </a:r>
          </a:p>
        </p:txBody>
      </p:sp>
      <p:sp>
        <p:nvSpPr>
          <p:cNvPr id="59" name="Shape 59"/>
          <p:cNvSpPr/>
          <p:nvPr/>
        </p:nvSpPr>
        <p:spPr>
          <a:xfrm>
            <a:off x="8869680" y="3246120"/>
            <a:ext cx="1051560" cy="420624"/>
          </a:xfrm>
          <a:prstGeom prst="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897112" y="3264408"/>
            <a:ext cx="996696" cy="384048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/>
          <a:lstStyle/>
          <a:p>
            <a:pPr algn="c" spcAft="20000"/>
            <a:r>
              <a:rPr lang="en-US" sz="920">
                <a:solidFill>
                  <a:srgbClr val="202A36"/>
                </a:solidFill>
                <a:latin typeface="Aptos"/>
              </a:rPr>
              <a:t>5.00</a:t>
            </a:r>
          </a:p>
        </p:txBody>
      </p:sp>
      <p:sp>
        <p:nvSpPr>
          <p:cNvPr id="61" name="Shape 61"/>
          <p:cNvSpPr/>
          <p:nvPr/>
        </p:nvSpPr>
        <p:spPr>
          <a:xfrm>
            <a:off x="5257800" y="4069080"/>
            <a:ext cx="4572000" cy="1033272"/>
          </a:xfrm>
          <a:prstGeom prst="roundRect">
            <a:avLst/>
          </a:prstGeom>
          <a:solidFill>
            <a:srgbClr val="E6EEF8"/>
          </a:solidFill>
          <a:ln w="10000">
            <a:solidFill>
              <a:srgbClr val="D7DEE8"/>
            </a:solidFill>
          </a:ln>
        </p:spPr>
      </p:sp>
      <p:sp>
        <p:nvSpPr>
          <p:cNvPr id="62" name="Shape 62"/>
          <p:cNvSpPr/>
          <p:nvPr/>
        </p:nvSpPr>
        <p:spPr>
          <a:xfrm>
            <a:off x="5257800" y="4069080"/>
            <a:ext cx="73152" cy="1033272"/>
          </a:xfrm>
          <a:prstGeom prst="rect">
            <a:avLst/>
          </a:prstGeom>
          <a:solidFill>
            <a:srgbClr val="357ABD"/>
          </a:solidFill>
          <a:ln w="10000">
            <a:solidFill>
              <a:srgbClr val="357AB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5367528" y="4123944"/>
            <a:ext cx="4389120" cy="9418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Run order example</a:t>
            </a:r>
          </a:p>
          <a:p>
            <a:pPr marL="285750" indent="-171450" algn="l" spcAft="20000">
              <a:buChar char="•"/>
            </a:pPr>
            <a:r>
              <a:rPr lang="en-US" sz="960">
                <a:solidFill>
                  <a:srgbClr val="202A36"/>
                </a:solidFill>
                <a:latin typeface="Aptos"/>
              </a:rPr>
              <a:t>4.76 -&gt; 4.15 -&gt; 5.07 -&gt; 3.85 -&gt; 5.67 -&gt; 4.45 -&gt; 5.37 -&gt; 4.76.</a:t>
            </a:r>
          </a:p>
          <a:p>
            <a:pPr marL="285750" indent="-171450" algn="l" spcAft="20000">
              <a:buChar char="•"/>
            </a:pPr>
            <a:r>
              <a:rPr lang="en-US" sz="960">
                <a:solidFill>
                  <a:srgbClr val="202A36"/>
                </a:solidFill>
                <a:latin typeface="Aptos"/>
              </a:rPr>
              <a:t>Hold 10-20 min per step and sample PH_2 every 2-5 s if possible.</a:t>
            </a:r>
          </a:p>
        </p:txBody>
      </p:sp>
      <p:sp>
        <p:nvSpPr>
          <p:cNvPr id="64" name="Shape 64"/>
          <p:cNvSpPr/>
          <p:nvPr/>
        </p:nvSpPr>
        <p:spPr>
          <a:xfrm>
            <a:off x="594360" y="4681728"/>
            <a:ext cx="4160520" cy="658368"/>
          </a:xfrm>
          <a:prstGeom prst="roundRect">
            <a:avLst/>
          </a:prstGeom>
          <a:solidFill>
            <a:srgbClr val="E7F3EC"/>
          </a:solidFill>
          <a:ln w="10000">
            <a:solidFill>
              <a:srgbClr val="D7DEE8"/>
            </a:solidFill>
          </a:ln>
        </p:spPr>
      </p:sp>
      <p:sp>
        <p:nvSpPr>
          <p:cNvPr id="65" name="Shape 65"/>
          <p:cNvSpPr/>
          <p:nvPr/>
        </p:nvSpPr>
        <p:spPr>
          <a:xfrm>
            <a:off x="594360" y="4681728"/>
            <a:ext cx="73152" cy="658368"/>
          </a:xfrm>
          <a:prstGeom prst="rect">
            <a:avLst/>
          </a:prstGeom>
          <a:solidFill>
            <a:srgbClr val="2C8A5A"/>
          </a:solidFill>
          <a:ln w="10000">
            <a:solidFill>
              <a:srgbClr val="2C8A5A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704088" y="4736592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Validation output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Compare PH_2 against raw and affine equilibrium predictions for each held-out step.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8912" y="6519672"/>
            <a:ext cx="9692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modeling update | equilibrium chemistry, BioSMB library, and open-loop experiments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173968" y="65196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r" spcAft="20000"/>
            <a:r>
              <a:rPr lang="en-US" sz="750">
                <a:solidFill>
                  <a:srgbClr val="64748B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F8FAFC"/>
            </a:solidFill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46304"/>
          </a:xfrm>
          <a:prstGeom prst="round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38912" y="29260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100" b="1">
                <a:solidFill>
                  <a:srgbClr val="7A263A"/>
                </a:solidFill>
                <a:latin typeface="Aptos"/>
              </a:rPr>
              <a:t>EXPERIMENTS TO RUN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912" y="51206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2800" b="1">
                <a:solidFill>
                  <a:srgbClr val="202A36"/>
                </a:solidFill>
                <a:latin typeface="Aptos"/>
              </a:rPr>
              <a:t>Experiment 2 should separate flow dynamics from chemistry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051560"/>
            <a:ext cx="3383280" cy="1481328"/>
          </a:xfrm>
          <a:prstGeom prst="roundRect">
            <a:avLst/>
          </a:prstGeom>
          <a:solidFill>
            <a:srgbClr val="E6EEF8"/>
          </a:solidFill>
          <a:ln w="10000">
            <a:solidFill>
              <a:srgbClr val="D7DEE8"/>
            </a:solidFill>
          </a:ln>
        </p:spPr>
      </p:sp>
      <p:sp>
        <p:nvSpPr>
          <p:cNvPr id="8" name="Shape 8"/>
          <p:cNvSpPr/>
          <p:nvPr/>
        </p:nvSpPr>
        <p:spPr>
          <a:xfrm>
            <a:off x="566928" y="1051560"/>
            <a:ext cx="73152" cy="1481328"/>
          </a:xfrm>
          <a:prstGeom prst="rect">
            <a:avLst/>
          </a:prstGeom>
          <a:solidFill>
            <a:srgbClr val="357ABD"/>
          </a:solidFill>
          <a:ln w="10000">
            <a:solidFill>
              <a:srgbClr val="357AB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6656" y="1106424"/>
            <a:ext cx="3200400" cy="138988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Block B: throughput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Keep composition fixed with equal streams.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Run [3,3,3], [5,5,5], and [8,8,8] mL/min.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Test whether response speed scales with total flow.</a:t>
            </a:r>
          </a:p>
        </p:txBody>
      </p:sp>
      <p:sp>
        <p:nvSpPr>
          <p:cNvPr id="10" name="Shape 10"/>
          <p:cNvSpPr/>
          <p:nvPr/>
        </p:nvSpPr>
        <p:spPr>
          <a:xfrm>
            <a:off x="4224528" y="1051560"/>
            <a:ext cx="3383280" cy="1481328"/>
          </a:xfrm>
          <a:prstGeom prst="roundRect">
            <a:avLst/>
          </a:prstGeom>
          <a:solidFill>
            <a:srgbClr val="DDF3F2"/>
          </a:solidFill>
          <a:ln w="10000">
            <a:solidFill>
              <a:srgbClr val="D7DEE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224528" y="1051560"/>
            <a:ext cx="73152" cy="1481328"/>
          </a:xfrm>
          <a:prstGeom prst="rect">
            <a:avLst/>
          </a:prstGeom>
          <a:solidFill>
            <a:srgbClr val="0F9A9B"/>
          </a:solidFill>
          <a:ln w="10000">
            <a:solidFill>
              <a:srgbClr val="0F9A9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334256" y="1106424"/>
            <a:ext cx="3200400" cy="138988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Block C: water fraction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Keep acid/acetate ratio fixed.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Run [5,5,1], [5,5,5], and [5,5,10] mL/min.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Separate dilution, conductivity, and flushing effects.</a:t>
            </a:r>
          </a:p>
        </p:txBody>
      </p:sp>
      <p:sp>
        <p:nvSpPr>
          <p:cNvPr id="13" name="Shape 13"/>
          <p:cNvSpPr/>
          <p:nvPr/>
        </p:nvSpPr>
        <p:spPr>
          <a:xfrm>
            <a:off x="7882128" y="1051560"/>
            <a:ext cx="3383280" cy="1481328"/>
          </a:xfrm>
          <a:prstGeom prst="roundRect">
            <a:avLst/>
          </a:prstGeom>
          <a:solidFill>
            <a:srgbClr val="FFF1CC"/>
          </a:solidFill>
          <a:ln w="10000">
            <a:solidFill>
              <a:srgbClr val="D7DEE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7882128" y="1051560"/>
            <a:ext cx="73152" cy="1481328"/>
          </a:xfrm>
          <a:prstGeom prst="rect">
            <a:avLst/>
          </a:prstGeom>
          <a:solidFill>
            <a:srgbClr val="D79B20"/>
          </a:solidFill>
          <a:ln w="10000">
            <a:solidFill>
              <a:srgbClr val="D79B2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991856" y="1106424"/>
            <a:ext cx="3200400" cy="138988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Block 0: local check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Start at [3,3,3].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Step one pump to 6, return to baseline, then repeat.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Use repeated center steps to expose drift.</a:t>
            </a:r>
          </a:p>
        </p:txBody>
      </p:sp>
      <p:sp>
        <p:nvSpPr>
          <p:cNvPr id="16" name="Shape 16"/>
          <p:cNvSpPr/>
          <p:nvPr/>
        </p:nvSpPr>
        <p:spPr>
          <a:xfrm>
            <a:off x="566928" y="2880360"/>
            <a:ext cx="5349240" cy="117043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EE8"/>
            </a:solidFill>
          </a:ln>
        </p:spPr>
      </p:sp>
      <p:sp>
        <p:nvSpPr>
          <p:cNvPr id="17" name="Shape 17"/>
          <p:cNvSpPr/>
          <p:nvPr/>
        </p:nvSpPr>
        <p:spPr>
          <a:xfrm>
            <a:off x="566928" y="2880360"/>
            <a:ext cx="73152" cy="1170432"/>
          </a:xfrm>
          <a:prstGeom prst="rect">
            <a:avLst/>
          </a:prstGeom>
          <a:solidFill>
            <a:srgbClr val="7A263A"/>
          </a:solidFill>
          <a:ln w="10000">
            <a:solidFill>
              <a:srgbClr val="7A263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6656" y="2935224"/>
            <a:ext cx="5166360" cy="107899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Dynamic wrapper to fit after the data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tau_eff d y_hat/dt = y_static(t - theta) - y_hat.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theta(t) = 60 V_delay / F_T(t), with F_T in mL/min.</a:t>
            </a:r>
          </a:p>
          <a:p>
            <a:pPr marL="285750" indent="-171450" algn="l" spcAft="20000">
              <a:buChar char="•"/>
            </a:pPr>
            <a:r>
              <a:rPr lang="en-US" sz="1000">
                <a:solidFill>
                  <a:srgbClr val="202A36"/>
                </a:solidFill>
                <a:latin typeface="Aptos"/>
              </a:rPr>
              <a:t>If data support it, split mixing lag from PH_2 sensor response.</a:t>
            </a:r>
          </a:p>
        </p:txBody>
      </p:sp>
      <p:sp>
        <p:nvSpPr>
          <p:cNvPr id="19" name="Shape 19"/>
          <p:cNvSpPr/>
          <p:nvPr/>
        </p:nvSpPr>
        <p:spPr>
          <a:xfrm>
            <a:off x="6217920" y="2880360"/>
            <a:ext cx="5047488" cy="1170432"/>
          </a:xfrm>
          <a:prstGeom prst="roundRect">
            <a:avLst/>
          </a:prstGeom>
          <a:solidFill>
            <a:srgbClr val="E7F3EC"/>
          </a:solidFill>
          <a:ln w="10000">
            <a:solidFill>
              <a:srgbClr val="D7DEE8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17920" y="2880360"/>
            <a:ext cx="73152" cy="1170432"/>
          </a:xfrm>
          <a:prstGeom prst="rect">
            <a:avLst/>
          </a:prstGeom>
          <a:solidFill>
            <a:srgbClr val="2C8A5A"/>
          </a:solidFill>
          <a:ln w="10000">
            <a:solidFill>
              <a:srgbClr val="2C8A5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27648" y="2935224"/>
            <a:ext cx="4864608" cy="1078992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Decision criteria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Improve test RMSE by at least 0.02 pH or 20 percent over static calibration.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Hold final offsets mostly within 0.05-0.10 pH.</a:t>
            </a:r>
          </a:p>
          <a:p>
            <a:pPr marL="285750" indent="-171450" algn="l" spcAft="20000">
              <a:buChar char="•"/>
            </a:pPr>
            <a:r>
              <a:rPr lang="en-US" sz="970">
                <a:solidFill>
                  <a:srgbClr val="202A36"/>
                </a:solidFill>
                <a:latin typeface="Aptos"/>
              </a:rPr>
              <a:t>Show physically sensible response speed versus total flow.</a:t>
            </a:r>
          </a:p>
        </p:txBody>
      </p:sp>
      <p:sp>
        <p:nvSpPr>
          <p:cNvPr id="22" name="Shape 22"/>
          <p:cNvSpPr/>
          <p:nvPr/>
        </p:nvSpPr>
        <p:spPr>
          <a:xfrm>
            <a:off x="566928" y="4590288"/>
            <a:ext cx="10698480" cy="749808"/>
          </a:xfrm>
          <a:prstGeom prst="roundRect">
            <a:avLst/>
          </a:prstGeom>
          <a:solidFill>
            <a:srgbClr val="F8E4E1"/>
          </a:solidFill>
          <a:ln w="10000">
            <a:solidFill>
              <a:srgbClr val="D7DEE8"/>
            </a:solidFill>
          </a:ln>
        </p:spPr>
      </p:sp>
      <p:sp>
        <p:nvSpPr>
          <p:cNvPr id="23" name="Shape 23"/>
          <p:cNvSpPr/>
          <p:nvPr/>
        </p:nvSpPr>
        <p:spPr>
          <a:xfrm>
            <a:off x="566928" y="4590288"/>
            <a:ext cx="73152" cy="749808"/>
          </a:xfrm>
          <a:prstGeom prst="rect">
            <a:avLst/>
          </a:prstGeom>
          <a:solidFill>
            <a:srgbClr val="B72418"/>
          </a:solidFill>
          <a:ln w="10000">
            <a:solidFill>
              <a:srgbClr val="B7241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76656" y="46451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1300" b="1">
                <a:solidFill>
                  <a:srgbClr val="202A36"/>
                </a:solidFill>
                <a:latin typeface="Aptos"/>
              </a:rPr>
              <a:t>Boundary</a:t>
            </a:r>
          </a:p>
          <a:p>
            <a:pPr marL="285750" indent="-171450" algn="l" spcAft="20000">
              <a:buChar char="•"/>
            </a:pPr>
            <a:r>
              <a:rPr lang="en-US" sz="1100">
                <a:solidFill>
                  <a:srgbClr val="202A36"/>
                </a:solidFill>
                <a:latin typeface="Aptos"/>
              </a:rPr>
              <a:t>No feedback control, MPC, RL, reward functions, or policies until this open-loop model predicts held-out PH_2 reliably.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8912" y="6519672"/>
            <a:ext cx="9692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l" spcAft="20000"/>
            <a:r>
              <a:rPr lang="en-US" sz="750">
                <a:solidFill>
                  <a:srgbClr val="64748B"/>
                </a:solidFill>
                <a:latin typeface="Aptos"/>
              </a:rPr>
              <a:t>pH modeling update | equilibrium chemistry, BioSMB library, and open-loop experiments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73968" y="65196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76000" rIns="76000" tIns="76000" bIns="76000"/>
          <a:lstStyle/>
          <a:p>
            <a:pPr algn="r" spcAft="20000"/>
            <a:r>
              <a:rPr lang="en-US" sz="750">
                <a:solidFill>
                  <a:srgbClr val="64748B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 Modeling Theme">
  <a:themeElements>
    <a:clrScheme name="pH Modeling">
      <a:dk1>
        <a:srgbClr val="202A36"/>
      </a:dk1>
      <a:lt1>
        <a:srgbClr val="FFFFFF"/>
      </a:lt1>
      <a:dk2>
        <a:srgbClr val="334155"/>
      </a:dk2>
      <a:lt2>
        <a:srgbClr val="F8FAFC"/>
      </a:lt2>
      <a:accent1>
        <a:srgbClr val="7A263A"/>
      </a:accent1>
      <a:accent2>
        <a:srgbClr val="0F9A9B"/>
      </a:accent2>
      <a:accent3>
        <a:srgbClr val="2C8A5A"/>
      </a:accent3>
      <a:accent4>
        <a:srgbClr val="D79B20"/>
      </a:accent4>
      <a:accent5>
        <a:srgbClr val="357ABD"/>
      </a:accent5>
      <a:accent6>
        <a:srgbClr val="B72418"/>
      </a:accent6>
      <a:hlink>
        <a:srgbClr val="357ABD"/>
      </a:hlink>
      <a:folHlink>
        <a:srgbClr val="7A263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pH Model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5</Slides>
  <Notes>0</Notes>
  <HiddenSlides>0</HiddenSlides>
  <MMClips>0</MMClips>
  <ScaleCrop>false</ScaleCrop>
  <Company>pHRLController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Equilibrium, BioSMB, and Open-Loop pH Experiments</dc:title>
  <dc:creator>Codex</dc:creator>
  <cp:lastModifiedBy>Codex</cp:lastModifiedBy>
  <dcterms:created xsi:type="dcterms:W3CDTF">2026-06-02T04:06:41+00:00</dcterms:created>
  <dcterms:modified xsi:type="dcterms:W3CDTF">2026-06-02T04:06:41+00:00</dcterms:modified>
</cp:coreProperties>
</file>